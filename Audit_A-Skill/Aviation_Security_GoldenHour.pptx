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1" r:id="rId3"/>
    <p:sldId id="258" r:id="rId4"/>
    <p:sldId id="262" r:id="rId5"/>
    <p:sldId id="263" r:id="rId6"/>
    <p:sldId id="282" r:id="rId7"/>
    <p:sldId id="280" r:id="rId8"/>
    <p:sldId id="281" r:id="rId9"/>
    <p:sldId id="269" r:id="rId10"/>
    <p:sldId id="266" r:id="rId11"/>
    <p:sldId id="267" r:id="rId12"/>
    <p:sldId id="274" r:id="rId13"/>
    <p:sldId id="268" r:id="rId14"/>
    <p:sldId id="270" r:id="rId15"/>
    <p:sldId id="272" r:id="rId16"/>
    <p:sldId id="273" r:id="rId17"/>
    <p:sldId id="276" r:id="rId18"/>
    <p:sldId id="278" r:id="rId19"/>
    <p:sldId id="279" r:id="rId20"/>
    <p:sldId id="283" r:id="rId21"/>
    <p:sldId id="286" r:id="rId22"/>
    <p:sldId id="284" r:id="rId23"/>
    <p:sldId id="275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327" autoAdjust="0"/>
  </p:normalViewPr>
  <p:slideViewPr>
    <p:cSldViewPr snapToGrid="0">
      <p:cViewPr varScale="1">
        <p:scale>
          <a:sx n="72" d="100"/>
          <a:sy n="72" d="100"/>
        </p:scale>
        <p:origin x="202" y="58"/>
      </p:cViewPr>
      <p:guideLst/>
    </p:cSldViewPr>
  </p:slideViewPr>
  <p:outlineViewPr>
    <p:cViewPr>
      <p:scale>
        <a:sx n="33" d="100"/>
        <a:sy n="33" d="100"/>
      </p:scale>
      <p:origin x="0" y="-131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BEF63-CB3D-4096-A56F-CC4EE645922E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46529-12A9-4544-B7A6-88ED2D8AE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77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21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38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03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09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C12B-02C7-01B4-9C78-74F84FB2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DF118-AD92-CCBD-AAB4-85DBF5C8D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73858-C7D6-4582-937A-1FA73DCC2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8EDF5-38D1-86CA-3108-EFD1CCF7C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146529-12A9-4544-B7A6-88ED2D8AEC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942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55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87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00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35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48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52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46529-12A9-4544-B7A6-88ED2D8AEC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90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F423-32D2-FBB5-7AF9-41B634613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B88E3-7F07-5461-EB00-E2CBC0090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A88AA-BBED-D7EF-505C-2442E5D9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74D0D-47DC-7EDE-24A1-90F7ECD7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175DC-AA93-1564-9E0F-AA8AAD29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40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7809-5054-A37B-5153-9DEDE7D4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AC69-8B43-E5B8-4691-DAFDDAB12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D2AB-9F41-33D6-3378-E86292B7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F2A6F-F4A0-CF18-2E6B-6433BF30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A40E5-4C60-679D-A049-0A80C093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8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BAA7-75E9-F9AE-05FC-2824902E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3E104-B301-C0DB-DB00-EA1408725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8BA4C-D81C-AEF4-2694-79C8EA6A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21D43-9014-A798-8A72-4B325492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8A286-A594-F0FA-A3F3-E96377BA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1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DDCA-0135-9D5F-9C11-69B96D2D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A08B4-5CB8-1D20-8120-F757BAB0A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7A776-8B46-7143-2579-B15B82E18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5D644-9EE0-119A-60C4-AE255B9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07437-1958-308E-E5BB-2E4F2981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C7723-CDEA-265D-3CCB-B6426AC3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7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240F-E5CC-1536-98D9-1359DBFB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3E97F-59F7-64EE-7F14-02214465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D22F1-7D3B-9707-1BBE-6986133CB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AC47B-C6C7-A1BC-A5B4-524EC65DA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6B0EC-9895-F8A8-7B20-728DAA710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D0FE5-F221-D3FE-0BAA-CDFE239BC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58F3B0-3525-A7AD-DDCE-41E980DA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0D0DA-E3CC-57C1-8B9C-C131FA7B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44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707F-B41B-CCCB-FF8C-40C28810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3E441-0CB9-E5EA-E53C-5173471D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DC08B-B836-ADA5-9FE7-619C380C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1691B-C0A2-83AF-A641-80120782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01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1099D-9966-E6E7-2499-904F41F3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B030B-F108-DBF4-32C2-19B2DFBE8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47E80-EF52-8AE8-E07F-8123D20C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8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5DB0-6A55-99A8-5262-73D19D0A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83E9B-EE39-7FCF-DF74-CC191104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28923-358E-4E96-9FA0-A339DF8E0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2FEC5-2F0C-DC70-812D-6A1E6D98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13919-4B2B-523E-C1A3-3620469E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87B0E-2598-3D94-7364-72CB125B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60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2DE7-2361-08D7-D22B-C6B9AAAB0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C1ED8-A7F6-6CD1-F47E-C8316F1A8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D1145-BB17-C843-1F04-60F3300AD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7E757-E5A6-4E79-1302-FF46355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89EE1-6810-296B-BF62-54790E4C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8E703-CBD6-4201-D444-675D038C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1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CCC3A-614C-7035-9A5B-0CB9AFEE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695AD-13FB-A555-CFE9-857F12519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C28D-FDF4-E3E6-17E6-4B27A9F9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753B0-76F1-35E3-623E-0BAF49DF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0BD5D-4851-FDA3-97A4-40773D16E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4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D1FA0-7EFB-DEF9-48C2-ACD899F86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C7923-3F6B-F1EA-A376-C9A4AD5A6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EDB87-DB4B-BCFE-D4B9-5FDF5E60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F07FB-6369-B7B3-5201-F5FBB2AF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F4E22-01A2-205A-D7A3-7F1AF9D3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2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93B51F-3660-ACA1-AD56-DA2E02D8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BA787-5DF7-7837-0BB9-5282F1A03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84D2C-ED5F-73BE-E731-FD4A4FFB1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3A0E4-36D1-40AF-BD4D-4C5CED22E8C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93E90-0889-62DA-1547-BFABCC15C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D57DE-4111-0669-4B5D-B3DC11C99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DB13A-1E84-4E3F-A772-3805AEDE4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6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abiusone.blogspot.com/2019/05/rilasciato-x-plane-v-1133-official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DBDB8-B1E4-1A16-4B6A-15F32BC53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14" y="640080"/>
            <a:ext cx="4869712" cy="281380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Aviation Security Awareness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8F162-7BCE-41CF-B404-39D943FEF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Over View and Major Historical Events</a:t>
            </a: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28A78-4439-34C5-71A7-45C55A8A9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566" r="3002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F7AF30-4271-5522-EF6D-65832E69BA96}"/>
              </a:ext>
            </a:extLst>
          </p:cNvPr>
          <p:cNvSpPr txBox="1"/>
          <p:nvPr/>
        </p:nvSpPr>
        <p:spPr>
          <a:xfrm>
            <a:off x="9602830" y="6657945"/>
            <a:ext cx="258917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fabiusone.blogspot.com/2019/05/rilasciato-x-plane-v-1133-official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7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E0158-C5C5-40C1-A0E9-9372C6A9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39474C2-DE57-2C21-6132-4E3565DBB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6FF6F2B-CCE9-A3F2-913E-245138966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86299-D5BC-E6B0-16A5-EDEDC8D8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Introduction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B0CEE-435B-4093-5D03-7A9F0E539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4125296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Aviation security is a fundamental component of the global aviation system, aimed at protecting Passengers, Crew, Aircraft, and infrastructure from acts of unlawful interference. </a:t>
            </a:r>
          </a:p>
          <a:p>
            <a:pPr lvl="0"/>
            <a:r>
              <a:rPr lang="en-US" sz="2400" dirty="0"/>
              <a:t>Rising air traffic leads to increased Aviation security risk</a:t>
            </a:r>
          </a:p>
          <a:p>
            <a:pPr lvl="0"/>
            <a:r>
              <a:rPr lang="en-US" sz="2400" dirty="0"/>
              <a:t>Aviation has become a prime target for security threats such as terrorism, hijacking, and sabotage</a:t>
            </a:r>
          </a:p>
          <a:p>
            <a:r>
              <a:rPr lang="en-US" sz="2400" dirty="0"/>
              <a:t>The system focuses on:</a:t>
            </a:r>
          </a:p>
          <a:p>
            <a:pPr lvl="1"/>
            <a:r>
              <a:rPr lang="en-US" dirty="0"/>
              <a:t>Global regulations </a:t>
            </a:r>
          </a:p>
          <a:p>
            <a:pPr lvl="1"/>
            <a:r>
              <a:rPr lang="en-US" dirty="0"/>
              <a:t>Pakistan’s regulatory framework and implementation</a:t>
            </a:r>
          </a:p>
          <a:p>
            <a:pPr lvl="1"/>
            <a:r>
              <a:rPr lang="en-US" dirty="0"/>
              <a:t>Stakeholder roles and responsibilities </a:t>
            </a:r>
          </a:p>
          <a:p>
            <a:endParaRPr lang="en-US" sz="24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3156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FE34D-F670-75E1-CEC4-25D6DFE7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Sequence of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4892-30B2-39AC-A416-771D5D4EB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95992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Introduction of Aviation Security</a:t>
            </a:r>
          </a:p>
          <a:p>
            <a:r>
              <a:rPr lang="en-US" sz="2400" dirty="0"/>
              <a:t>Importance  &amp; Consequences</a:t>
            </a:r>
          </a:p>
          <a:p>
            <a:r>
              <a:rPr lang="en-US" sz="2400" dirty="0"/>
              <a:t>Difference between Safety &amp; Security</a:t>
            </a:r>
          </a:p>
          <a:p>
            <a:r>
              <a:rPr lang="en-US" sz="2400" dirty="0"/>
              <a:t>Key Regulatory Organization IATA &amp; ICAO</a:t>
            </a:r>
          </a:p>
          <a:p>
            <a:r>
              <a:rPr lang="en-US" sz="2400" dirty="0"/>
              <a:t>Role of PCAA and ASF</a:t>
            </a:r>
          </a:p>
          <a:p>
            <a:r>
              <a:rPr lang="en-US" sz="2400" dirty="0"/>
              <a:t>Airlines &amp; Traffic  Staff responsibilities</a:t>
            </a:r>
          </a:p>
          <a:p>
            <a:r>
              <a:rPr lang="en-US" sz="2400" dirty="0"/>
              <a:t>GHAs, Cargo and Catering Handling Staff </a:t>
            </a:r>
          </a:p>
          <a:p>
            <a:r>
              <a:rPr lang="en-US" sz="2400" dirty="0"/>
              <a:t>Major Historical Incidents and Improvements</a:t>
            </a:r>
          </a:p>
          <a:p>
            <a:r>
              <a:rPr lang="en-US" sz="2400" dirty="0"/>
              <a:t>Conclusion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0242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7AE75-2DD4-3EB1-2786-47FB4FE1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211CDE3-330D-9BE7-CD41-25534BCBB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12EF992-37D2-7053-0A98-5B406FA99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5AA9C-9EDF-3BBB-0066-304F322C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Importance of Aviation Security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616F0-BED6-C01F-518D-67697C824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869990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FC45E-5150-2AB9-E3B7-5E86A584BE9E}"/>
              </a:ext>
            </a:extLst>
          </p:cNvPr>
          <p:cNvSpPr txBox="1"/>
          <p:nvPr/>
        </p:nvSpPr>
        <p:spPr>
          <a:xfrm>
            <a:off x="835153" y="2389132"/>
            <a:ext cx="7783554" cy="3132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Protects 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assengers and crew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Safeguards Aircraft and 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irports</a:t>
            </a: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Infrastructure</a:t>
            </a: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Prevents terrorism and crime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Maintains public confidence 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Supports global economy </a:t>
            </a:r>
          </a:p>
        </p:txBody>
      </p:sp>
    </p:spTree>
    <p:extLst>
      <p:ext uri="{BB962C8B-B14F-4D97-AF65-F5344CB8AC3E}">
        <p14:creationId xmlns:p14="http://schemas.microsoft.com/office/powerpoint/2010/main" val="317902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AA42D-52BB-69C8-772C-375FCB144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853B03-3FBF-3ACE-31B8-0674037AB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C190D6D-7ABE-E881-050F-8677C5BE5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F295E-6576-4BFF-31BF-8BA7D2D3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Consequences of Security Failure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B2CC3-79FA-CA11-AE31-C7CD6399F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869990"/>
          </a:xfrm>
        </p:spPr>
        <p:txBody>
          <a:bodyPr>
            <a:normAutofit/>
          </a:bodyPr>
          <a:lstStyle/>
          <a:p>
            <a:pPr lvl="0"/>
            <a:endParaRPr lang="en-US" dirty="0"/>
          </a:p>
          <a:p>
            <a:pPr lvl="0"/>
            <a:r>
              <a:rPr lang="en-US" sz="2400" dirty="0"/>
              <a:t>Loss of human life </a:t>
            </a:r>
          </a:p>
          <a:p>
            <a:pPr lvl="0"/>
            <a:r>
              <a:rPr lang="en-US" sz="2400" dirty="0"/>
              <a:t>Economic damage </a:t>
            </a:r>
          </a:p>
          <a:p>
            <a:pPr lvl="0"/>
            <a:r>
              <a:rPr lang="en-US" sz="2400" dirty="0"/>
              <a:t>Disruption of air travel </a:t>
            </a:r>
          </a:p>
          <a:p>
            <a:pPr lvl="0"/>
            <a:r>
              <a:rPr lang="en-US" sz="2400" dirty="0"/>
              <a:t>Loss of trust </a:t>
            </a:r>
          </a:p>
          <a:p>
            <a:r>
              <a:rPr lang="en-US" sz="2400" dirty="0"/>
              <a:t>National security risks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42613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4F73E-362E-8E94-347D-6DED500E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9247865-9500-1C44-FC15-FE2B631F4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D646751-751E-6BA5-048E-D34D0BA25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F0AB8-2073-4413-6DE6-26C1CDB4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Difference between Safety &amp;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CCC0C-1B7B-4DED-854D-7C86B6CEE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869990"/>
          </a:xfrm>
        </p:spPr>
        <p:txBody>
          <a:bodyPr>
            <a:normAutofit/>
          </a:bodyPr>
          <a:lstStyle/>
          <a:p>
            <a:r>
              <a:rPr lang="en-US" sz="2400" dirty="0"/>
              <a:t>Aviation safety focuses on preventing unintentional accidents caused by technical failures, human error, or environmental hazards (e.g., maintenance, training). </a:t>
            </a:r>
          </a:p>
          <a:p>
            <a:endParaRPr lang="en-US" sz="2400" dirty="0"/>
          </a:p>
          <a:p>
            <a:r>
              <a:rPr lang="en-US" sz="2400" dirty="0"/>
              <a:t>Aviation security (AVSEC) protects against intentional, malicious acts, including terrorism, hijacking, and sabotage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4284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C0ABD-FDC7-E87F-8C77-D2F4E3FE4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FB30F1-5671-7113-4A44-6C40A49DD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FFA150A-2810-AEA5-8AD7-1C2F073C2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9B7E3-17C2-47EB-C3EF-78CDB5C52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Key Organization : ICAO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9D8F4-4CC7-E3B5-D5D1-54720729C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sz="2600" dirty="0"/>
              <a:t>International Civil Aviation Organization </a:t>
            </a:r>
          </a:p>
          <a:p>
            <a:pPr lvl="0"/>
            <a:r>
              <a:rPr lang="en-US" sz="2600" dirty="0"/>
              <a:t>UN specialized aviation agency </a:t>
            </a:r>
          </a:p>
          <a:p>
            <a:pPr lvl="0"/>
            <a:r>
              <a:rPr lang="en-US" sz="2600" dirty="0"/>
              <a:t>Develops global standards and Recommended Practices.</a:t>
            </a:r>
          </a:p>
          <a:p>
            <a:pPr lvl="0"/>
            <a:r>
              <a:rPr lang="en-US" sz="2600" dirty="0"/>
              <a:t>Ensures Aviation Safety &amp; Security worldwide</a:t>
            </a:r>
          </a:p>
          <a:p>
            <a:r>
              <a:rPr lang="en-US" sz="2600" dirty="0"/>
              <a:t>ICAO Annex 17 : Core Aviation security regulations</a:t>
            </a:r>
          </a:p>
          <a:p>
            <a:pPr lvl="1"/>
            <a:r>
              <a:rPr lang="en-US" sz="2600" dirty="0"/>
              <a:t>Passenger &amp; Baggage screening </a:t>
            </a:r>
          </a:p>
          <a:p>
            <a:pPr lvl="1"/>
            <a:r>
              <a:rPr lang="en-US" sz="2600" dirty="0"/>
              <a:t>Airport security </a:t>
            </a:r>
          </a:p>
          <a:p>
            <a:pPr lvl="1"/>
            <a:r>
              <a:rPr lang="en-US" sz="2600" dirty="0"/>
              <a:t>Cargo security </a:t>
            </a:r>
          </a:p>
          <a:p>
            <a:pPr lvl="1"/>
            <a:r>
              <a:rPr lang="en-US" sz="2600" dirty="0"/>
              <a:t>Framework for national programs </a:t>
            </a:r>
          </a:p>
          <a:p>
            <a:endParaRPr lang="en-US" sz="2600" dirty="0"/>
          </a:p>
          <a:p>
            <a:pPr lvl="0"/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25651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6FE78-AED6-B79A-8741-E24ABE24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304A11F-60E6-F32F-F143-C85B81184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7401D29-8BBD-8DF3-2F08-060E74BEE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77FE7-92CE-5402-61AE-1A8AE5C4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Key Organization : IATA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9DB77-18ED-1109-EA81-89F750AB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 </a:t>
            </a:r>
            <a:r>
              <a:rPr lang="en-US" sz="2400" dirty="0"/>
              <a:t>International Air Transport which represents global airlines </a:t>
            </a:r>
          </a:p>
          <a:p>
            <a:pPr lvl="0"/>
            <a:r>
              <a:rPr lang="en-US" sz="2400" dirty="0"/>
              <a:t>Works with ICAO , Ensures practical implementation </a:t>
            </a:r>
          </a:p>
          <a:p>
            <a:pPr lvl="0"/>
            <a:r>
              <a:rPr lang="en-US" sz="2400" dirty="0"/>
              <a:t>Develops best practices </a:t>
            </a:r>
          </a:p>
          <a:p>
            <a:pPr lvl="0"/>
            <a:r>
              <a:rPr lang="en-US" sz="2400" dirty="0"/>
              <a:t>Promotes Security Management Systems (</a:t>
            </a:r>
            <a:r>
              <a:rPr lang="en-US" sz="2400" dirty="0" err="1"/>
              <a:t>SeMS</a:t>
            </a:r>
            <a:r>
              <a:rPr lang="en-US" sz="2400" dirty="0"/>
              <a:t>) </a:t>
            </a:r>
          </a:p>
          <a:p>
            <a:pPr lvl="0"/>
            <a:r>
              <a:rPr lang="en-US" sz="2400" dirty="0"/>
              <a:t>Supports airlines globally </a:t>
            </a:r>
          </a:p>
          <a:p>
            <a:pPr lvl="0"/>
            <a:r>
              <a:rPr lang="en-US" sz="2400" dirty="0"/>
              <a:t>IATA plays a vital role in bridging regulatory frameworks and operational implementation.</a:t>
            </a:r>
          </a:p>
          <a:p>
            <a:endParaRPr lang="en-US" sz="2400" dirty="0"/>
          </a:p>
          <a:p>
            <a:pPr lvl="0"/>
            <a:endParaRPr lang="en-US" sz="2400" dirty="0"/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75878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E62D8-BAB0-4DC9-EBF1-0E5CE66B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B2D21E2-8C35-DDE1-1E76-0AB299A3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A4AFFD-282D-38CB-0250-0DA84AD72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7DCAE-A6C3-39A1-7EC1-DF5D519E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Role of Pakistan Civil Aviation Authority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24F5-A05C-E5F8-F483-F3BA9B915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US" sz="2400" dirty="0"/>
              <a:t>National Framework (Pakistan), Based on ICAO standards </a:t>
            </a:r>
          </a:p>
          <a:p>
            <a:r>
              <a:rPr lang="en-US" sz="2400" dirty="0"/>
              <a:t>Implemented through Law Enforcement agencies  and PAA</a:t>
            </a:r>
          </a:p>
          <a:p>
            <a:pPr lvl="0"/>
            <a:r>
              <a:rPr lang="en-US" sz="2400" dirty="0"/>
              <a:t>Regulates aviation security </a:t>
            </a:r>
          </a:p>
          <a:p>
            <a:pPr lvl="0"/>
            <a:r>
              <a:rPr lang="en-US" sz="2400" dirty="0"/>
              <a:t>Develops NCASP (National Civil Aviation Security Program)</a:t>
            </a:r>
          </a:p>
          <a:p>
            <a:pPr lvl="0"/>
            <a:r>
              <a:rPr lang="en-US" sz="2400" dirty="0"/>
              <a:t>Conducts audits and inspections </a:t>
            </a:r>
          </a:p>
          <a:p>
            <a:r>
              <a:rPr lang="en-US" sz="2400" dirty="0"/>
              <a:t>Issues licenses (AOC, GHOC) </a:t>
            </a:r>
            <a:r>
              <a:rPr lang="en-US" sz="2400" dirty="0" err="1"/>
              <a:t>etc</a:t>
            </a:r>
            <a:endParaRPr lang="en-US" sz="24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03008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ADDA0-F642-5C86-7937-9C3726127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F58358B-5470-ABB1-C6A3-FAAEDAE1B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EFE7579-C2E1-2EA4-C4B6-D154E63E0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0C174-9E6B-3119-C8AD-A0815531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Airport Security Force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73336-323F-5D6E-2D67-CA5D0C392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Main airport security agency (paramilitary force)</a:t>
            </a:r>
          </a:p>
          <a:p>
            <a:pPr lvl="0"/>
            <a:r>
              <a:rPr lang="en-US" sz="2400" dirty="0"/>
              <a:t>Ensures enforcement of security measures </a:t>
            </a:r>
          </a:p>
          <a:p>
            <a:pPr lvl="0"/>
            <a:r>
              <a:rPr lang="en-US" sz="2400" dirty="0"/>
              <a:t>Passenger &amp; baggage screening (X-Ray Machines)</a:t>
            </a:r>
          </a:p>
          <a:p>
            <a:pPr lvl="0"/>
            <a:r>
              <a:rPr lang="en-US" sz="2400" dirty="0"/>
              <a:t>Access control </a:t>
            </a:r>
          </a:p>
          <a:p>
            <a:pPr lvl="0"/>
            <a:r>
              <a:rPr lang="en-US" sz="2400" dirty="0"/>
              <a:t>Surveillance &amp; patrol </a:t>
            </a:r>
          </a:p>
          <a:p>
            <a:pPr lvl="0"/>
            <a:r>
              <a:rPr lang="en-US" sz="2400" dirty="0"/>
              <a:t>Emergency response </a:t>
            </a:r>
          </a:p>
          <a:p>
            <a:r>
              <a:rPr lang="en-US" sz="2400" dirty="0"/>
              <a:t>Coordination with Agencies, Airlines &amp; GHAs</a:t>
            </a:r>
          </a:p>
        </p:txBody>
      </p:sp>
    </p:spTree>
    <p:extLst>
      <p:ext uri="{BB962C8B-B14F-4D97-AF65-F5344CB8AC3E}">
        <p14:creationId xmlns:p14="http://schemas.microsoft.com/office/powerpoint/2010/main" val="236747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C0294-43BD-53C9-5109-AE5BCA8C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D12B409-0B82-57C7-0F60-93C329254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567F03F-76D7-3392-29D5-460101FE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436AD-3A9C-4A93-4863-A3661EFB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Airline Responsibilities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8FE5F-20F4-780F-1050-DD746B6C7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Ensure onboard and operational security </a:t>
            </a:r>
          </a:p>
          <a:p>
            <a:r>
              <a:rPr lang="en-US" dirty="0"/>
              <a:t>Comply with regulations </a:t>
            </a:r>
          </a:p>
          <a:p>
            <a:pPr lvl="0"/>
            <a:r>
              <a:rPr lang="en-US" dirty="0"/>
              <a:t>Passenger identity verification </a:t>
            </a:r>
          </a:p>
          <a:p>
            <a:pPr lvl="0"/>
            <a:r>
              <a:rPr lang="en-US" dirty="0"/>
              <a:t>Aircraft security checks </a:t>
            </a:r>
          </a:p>
          <a:p>
            <a:pPr lvl="0"/>
            <a:r>
              <a:rPr lang="en-US" dirty="0"/>
              <a:t>Crew  &amp; Personnel training</a:t>
            </a:r>
          </a:p>
          <a:p>
            <a:pPr lvl="0"/>
            <a:r>
              <a:rPr lang="en-US" dirty="0"/>
              <a:t>Reporting suspicious activity </a:t>
            </a:r>
            <a:br>
              <a:rPr lang="en-US" dirty="0"/>
            </a:br>
            <a:endParaRPr lang="en-US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0737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31A07-579D-A49F-BB85-EE602A7D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2906E9-CEA0-3BED-6CC7-8DFEA3E15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3CC265A-9A76-A32B-D1B1-9DCBADA37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79093-2FC2-D7C9-42EE-82AC2388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Airline Local Security Department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BA05D-9F95-EA67-5AB8-4ABFA30C0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US" sz="2400" dirty="0"/>
              <a:t>Ensures Airline-level compliance </a:t>
            </a:r>
          </a:p>
          <a:p>
            <a:pPr lvl="0"/>
            <a:r>
              <a:rPr lang="en-US" sz="2400" dirty="0"/>
              <a:t>Coordinate with ASF &amp; PCAA and other agencies/departments</a:t>
            </a:r>
          </a:p>
          <a:p>
            <a:pPr lvl="0"/>
            <a:r>
              <a:rPr lang="en-US" sz="2400" dirty="0"/>
              <a:t>Conduct audits </a:t>
            </a:r>
          </a:p>
          <a:p>
            <a:pPr lvl="0"/>
            <a:r>
              <a:rPr lang="en-US" sz="2400" dirty="0"/>
              <a:t>Monitor procedures </a:t>
            </a:r>
          </a:p>
          <a:p>
            <a:pPr lvl="0"/>
            <a:r>
              <a:rPr lang="en-US" sz="2400" dirty="0"/>
              <a:t>Train staff  (Security &amp; DGR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pPr lvl="0"/>
            <a:r>
              <a:rPr lang="en-US" sz="2400" dirty="0"/>
              <a:t>Investigate incidents </a:t>
            </a:r>
          </a:p>
          <a:p>
            <a:r>
              <a:rPr lang="en-US" sz="2400" dirty="0"/>
              <a:t>AOSP (Aircraft Operator Security Program) Manual</a:t>
            </a:r>
          </a:p>
        </p:txBody>
      </p:sp>
    </p:spTree>
    <p:extLst>
      <p:ext uri="{BB962C8B-B14F-4D97-AF65-F5344CB8AC3E}">
        <p14:creationId xmlns:p14="http://schemas.microsoft.com/office/powerpoint/2010/main" val="1336327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12F97-F8C8-05B1-B6E6-00C4B4580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DB86894-4A21-785A-F444-723020B9E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CB2496-4FC7-B928-C260-2AD308E00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91631-50DD-DE52-EAD4-034A80275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Traffic Staff Responsibilities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27FEE-A79B-1441-1950-E91A4C840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Frontline airport staff </a:t>
            </a:r>
          </a:p>
          <a:p>
            <a:pPr lvl="0"/>
            <a:r>
              <a:rPr lang="en-US" sz="2400" dirty="0"/>
              <a:t>First interaction with passengers </a:t>
            </a:r>
          </a:p>
          <a:p>
            <a:pPr lvl="0"/>
            <a:r>
              <a:rPr lang="en-US" sz="2400" dirty="0"/>
              <a:t>Check travel documents </a:t>
            </a:r>
          </a:p>
          <a:p>
            <a:pPr lvl="0"/>
            <a:r>
              <a:rPr lang="en-US" sz="2400" dirty="0"/>
              <a:t>Verify identity </a:t>
            </a:r>
          </a:p>
          <a:p>
            <a:pPr lvl="0"/>
            <a:r>
              <a:rPr lang="en-US" sz="2400" dirty="0"/>
              <a:t>Detect suspicious behavior </a:t>
            </a:r>
          </a:p>
          <a:p>
            <a:pPr lvl="0"/>
            <a:r>
              <a:rPr lang="en-US" sz="2400" dirty="0"/>
              <a:t>Detect and isolate DGR items</a:t>
            </a:r>
          </a:p>
          <a:p>
            <a:pPr lvl="0"/>
            <a:r>
              <a:rPr lang="en-US" sz="2400" dirty="0"/>
              <a:t>Ensure secure boarding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4679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A8337-71BC-0B4D-17D2-F0BB1F6C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C7268A-8FA1-02D0-3BC5-FD9E857BB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1C25BA-E211-ADF9-86D2-BD87C538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66B10-7722-A238-610F-2D4C68EC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Ground Handling Agents (GHAs)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18D0-31A1-5668-E911-705A25F62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Provide Airport Operational/Ground services (RAS, SAPs Gerry </a:t>
            </a:r>
            <a:r>
              <a:rPr lang="en-US" sz="2400" dirty="0" err="1"/>
              <a:t>Dnata</a:t>
            </a:r>
            <a:r>
              <a:rPr lang="en-US" sz="2400" dirty="0"/>
              <a:t> )</a:t>
            </a:r>
          </a:p>
          <a:p>
            <a:pPr lvl="0"/>
            <a:r>
              <a:rPr lang="en-US" sz="2400" dirty="0"/>
              <a:t>Handle aircraft and baggage </a:t>
            </a:r>
          </a:p>
          <a:p>
            <a:pPr lvl="0"/>
            <a:r>
              <a:rPr lang="en-US" sz="2400" dirty="0"/>
              <a:t>Secure baggage and cargo reconciliation and movement.</a:t>
            </a:r>
          </a:p>
          <a:p>
            <a:pPr lvl="0"/>
            <a:r>
              <a:rPr lang="en-US" sz="2400" dirty="0"/>
              <a:t>Follow procedures thru Ground Handling security manual</a:t>
            </a:r>
          </a:p>
          <a:p>
            <a:pPr lvl="0"/>
            <a:r>
              <a:rPr lang="en-US" sz="2400" dirty="0"/>
              <a:t>Identify prohibited items and DGR items</a:t>
            </a:r>
          </a:p>
          <a:p>
            <a:pPr lvl="0"/>
            <a:r>
              <a:rPr lang="en-US" sz="2400" dirty="0"/>
              <a:t>Coordinate with security agencies (ASF, ANF, Custom &amp; Vigilance) for the search of the Aircraft and Baggage.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5491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6B869-0285-7E65-B3AC-AD0A9304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F615D5A-36B6-7F9A-34D2-BBA3ED29E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B6AF9D9-996F-2BD7-15E4-CCEC7392D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205F1-388B-D4C8-E47A-DE736D59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Cargo Department Responsibilities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0B0FF-FD2B-4C2B-00EA-6602EE111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9013"/>
            <a:ext cx="10515600" cy="316794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Handles cargo and mail </a:t>
            </a:r>
          </a:p>
          <a:p>
            <a:pPr lvl="0"/>
            <a:r>
              <a:rPr lang="en-US" sz="2400" dirty="0"/>
              <a:t>Screen of cargo </a:t>
            </a:r>
          </a:p>
          <a:p>
            <a:pPr lvl="0"/>
            <a:r>
              <a:rPr lang="en-US" sz="2400" dirty="0"/>
              <a:t>Maintain secure supply chain </a:t>
            </a:r>
          </a:p>
          <a:p>
            <a:pPr lvl="0"/>
            <a:r>
              <a:rPr lang="en-US" sz="2400" dirty="0"/>
              <a:t>Known Consignor system </a:t>
            </a:r>
          </a:p>
          <a:p>
            <a:pPr lvl="0"/>
            <a:r>
              <a:rPr lang="en-US" sz="2400" dirty="0"/>
              <a:t>Prevent dangerous goods transport (DGR)</a:t>
            </a:r>
          </a:p>
          <a:p>
            <a:r>
              <a:rPr lang="en-US" sz="2400" dirty="0"/>
              <a:t>Implementation of  </a:t>
            </a:r>
            <a:r>
              <a:rPr lang="en-US" sz="2400" dirty="0" err="1"/>
              <a:t>Avn</a:t>
            </a:r>
            <a:r>
              <a:rPr lang="en-US" sz="2400" dirty="0"/>
              <a:t> Security Program thru PCAA Guidelines</a:t>
            </a:r>
          </a:p>
          <a:p>
            <a:pPr marL="0" lvl="0" indent="0">
              <a:buNone/>
            </a:pPr>
            <a:r>
              <a:rPr lang="en-US" dirty="0"/>
              <a:t>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46012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24922-432F-5A12-9F9B-BAF01C81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C67F905-4452-232C-21E6-4D0027A8D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7904C28-9EEF-64CB-21CF-9926E4ABC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46DBC-2B65-7B3A-3BBA-6EEAB93D1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Catering Department </a:t>
            </a:r>
            <a:r>
              <a:rPr lang="en-US" b="1" dirty="0" err="1"/>
              <a:t>Responsibies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C54F2-713E-1397-E81C-C8C5A8CF8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US" sz="2400" dirty="0"/>
              <a:t>Responsible for in-flight food security </a:t>
            </a:r>
          </a:p>
          <a:p>
            <a:pPr lvl="0"/>
            <a:r>
              <a:rPr lang="en-US" sz="2400" dirty="0"/>
              <a:t>Secure food preparation </a:t>
            </a:r>
          </a:p>
          <a:p>
            <a:pPr lvl="0"/>
            <a:r>
              <a:rPr lang="en-US" sz="2400" dirty="0"/>
              <a:t>Prevent tampering </a:t>
            </a:r>
          </a:p>
          <a:p>
            <a:pPr lvl="0"/>
            <a:r>
              <a:rPr lang="en-US" sz="2400" dirty="0"/>
              <a:t>Maintain sealed delivery </a:t>
            </a:r>
          </a:p>
          <a:p>
            <a:r>
              <a:rPr lang="en-US" sz="2400" dirty="0"/>
              <a:t>Follow hygiene standard</a:t>
            </a:r>
          </a:p>
          <a:p>
            <a:r>
              <a:rPr lang="en-US" sz="2400" dirty="0"/>
              <a:t>Implementation of  </a:t>
            </a:r>
            <a:r>
              <a:rPr lang="en-US" sz="2400" dirty="0" err="1"/>
              <a:t>Avn</a:t>
            </a:r>
            <a:r>
              <a:rPr lang="en-US" sz="2400" dirty="0"/>
              <a:t> Security Program thru PCAA Guidelines</a:t>
            </a:r>
          </a:p>
        </p:txBody>
      </p:sp>
    </p:spTree>
    <p:extLst>
      <p:ext uri="{BB962C8B-B14F-4D97-AF65-F5344CB8AC3E}">
        <p14:creationId xmlns:p14="http://schemas.microsoft.com/office/powerpoint/2010/main" val="3571882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5C0AF-7CE9-70BA-D1C7-E105B94C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A308FE8-E286-35B8-0716-7EE83B35F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F192EC8-C69E-8325-1D37-F21A5E0CC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F7516-FDA6-FA6E-B190-05826662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The Hijacking Era (1960s-1970s)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4EC2A-75A3-42A8-E6F0-0B56C9891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869990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The 1960s and 1970s were marked by a surge in aircraft hijackings, often driven by political motives.</a:t>
            </a:r>
          </a:p>
          <a:p>
            <a:r>
              <a:rPr lang="en-US" sz="2600" dirty="0"/>
              <a:t>From 1968 to 1972, one hundred and thirty-seven planes were hijacked in the US alone.</a:t>
            </a:r>
          </a:p>
          <a:p>
            <a:r>
              <a:rPr lang="en-US" sz="2600" dirty="0"/>
              <a:t>These events exposed glaring vulnerabilities in aviation security, prompting governments and airlines to take action.</a:t>
            </a:r>
          </a:p>
          <a:p>
            <a:r>
              <a:rPr lang="en-US" sz="2600" dirty="0"/>
              <a:t>Introduction of passenger screening at airports. </a:t>
            </a:r>
          </a:p>
          <a:p>
            <a:r>
              <a:rPr lang="en-US" sz="2600" dirty="0"/>
              <a:t>Deployment of metal detectors and X-ray machines to detect weapons.  </a:t>
            </a:r>
          </a:p>
          <a:p>
            <a:r>
              <a:rPr lang="en-US" sz="2600" dirty="0"/>
              <a:t>This era marked the beginning of a structured approach to aviation security, shifting the focus from reactive measures to proactive prevention.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41516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5EE48-000E-9185-6823-2E06D9E5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C9DA96-69A1-6509-F176-9784AE545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78F610-CAEB-7A25-7E9E-6D89AFFE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F89B-36CA-59B9-989D-587D76D9D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The Lockerbie Bombing (1988)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B5B05-07AD-B342-89E1-7B35759C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869990"/>
          </a:xfrm>
        </p:spPr>
        <p:txBody>
          <a:bodyPr>
            <a:normAutofit/>
          </a:bodyPr>
          <a:lstStyle/>
          <a:p>
            <a:r>
              <a:rPr lang="en-US" sz="2400" dirty="0"/>
              <a:t>On December 21, 1988, Pan Am Flight 103 was destroyed by a bomb over Lockerbie, Scotland, killing all 259 people on board and 11 on the ground. </a:t>
            </a:r>
          </a:p>
          <a:p>
            <a:r>
              <a:rPr lang="en-US" sz="2400" dirty="0"/>
              <a:t>Enhanced baggage screening procedures, including the use of explosive detection systems (EDS). </a:t>
            </a:r>
          </a:p>
          <a:p>
            <a:r>
              <a:rPr lang="en-US" sz="2400" dirty="0"/>
              <a:t> Stricter regulations on cargo and checked luggage. </a:t>
            </a:r>
          </a:p>
          <a:p>
            <a:r>
              <a:rPr lang="en-US" sz="2400" dirty="0"/>
              <a:t>Increased international cooperation in intelligence sharing and counterterrorism efforts.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56760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395BF-A68E-43D5-1509-55B36EA5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FCE76B4-F236-66A2-4347-01F4D4CC7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BEF94C-2B5A-3A86-3A30-105BC443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B806D-400B-C5F5-F2ED-BAC60638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The 9/11 Attacks (2001)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A9621-2993-D358-A81D-BF7028B5A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86999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September 11, 2001, terrorist  took control of four commercial airplanes, using them as weapons to attack the World Trade Center and the Pentagon.</a:t>
            </a:r>
          </a:p>
          <a:p>
            <a:r>
              <a:rPr lang="en-US" dirty="0"/>
              <a:t>Creation of the Transportation Security Administration (TSA) in the United States. </a:t>
            </a:r>
          </a:p>
          <a:p>
            <a:r>
              <a:rPr lang="en-US" dirty="0"/>
              <a:t> Implementation of 100% passenger and baggage screening. </a:t>
            </a:r>
          </a:p>
          <a:p>
            <a:r>
              <a:rPr lang="en-US" dirty="0"/>
              <a:t>Introduction of reinforced cockpit doors to prevent unauthorized access. </a:t>
            </a:r>
          </a:p>
          <a:p>
            <a:r>
              <a:rPr lang="en-US" dirty="0"/>
              <a:t>Development of behavioral detection programs and advanced screening technologies. </a:t>
            </a:r>
          </a:p>
          <a:p>
            <a:r>
              <a:rPr lang="en-US" dirty="0"/>
              <a:t>Global adoption of stricter security protocols, including restrictions on liquids and gels in carry-on luggage.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27843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2FE0C-7E61-95CB-3B01-D1F22334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1EA83-285E-E425-F63F-3920A291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A713533-918D-940D-293C-C1BD8B7FC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BF2EF-EAB0-A732-D76B-CAF5AA7EC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The Shoe Bomber Incident (2001)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1E53C-D581-B538-B6E9-068131FD2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959926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Just months after 9/11, Richard Reid, attempted to detonate an explosive device hidden in his shoe aboard American Airlines Flight 63.</a:t>
            </a:r>
          </a:p>
          <a:p>
            <a:r>
              <a:rPr lang="en-US" sz="2600" dirty="0"/>
              <a:t>The attack was thwarted by passengers and crew, it exposed yet another vulnerability. </a:t>
            </a:r>
          </a:p>
          <a:p>
            <a:r>
              <a:rPr lang="en-US" sz="2600" dirty="0"/>
              <a:t> Introduction of shoe removal during security screening. </a:t>
            </a:r>
          </a:p>
          <a:p>
            <a:r>
              <a:rPr lang="en-US" sz="2600" dirty="0"/>
              <a:t>Increased focus on in-flight security measures, including air marshals and crew training. </a:t>
            </a:r>
          </a:p>
          <a:p>
            <a:r>
              <a:rPr lang="en-US" sz="2600" dirty="0"/>
              <a:t>Development of advanced imaging technology (AIT) to detect non-metallic threats. </a:t>
            </a:r>
          </a:p>
          <a:p>
            <a:r>
              <a:rPr lang="en-US" sz="2600" dirty="0"/>
              <a:t>This incident reinforced the need for continuous innovation in security protocols to stay ahead of evolving threats.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06584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7E276-1CC8-BDD8-5BD5-708023553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1462692-9837-AE0C-9EBE-F77B902D9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EDB4C02-04DC-523A-4C07-5CB1C4B66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4AF82-1E90-269D-438C-38177E2F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b="1" dirty="0"/>
              <a:t>The Underwear Bomber (2009)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31E0-C995-C42D-1785-C57199F75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959926"/>
          </a:xfrm>
        </p:spPr>
        <p:txBody>
          <a:bodyPr>
            <a:normAutofit/>
          </a:bodyPr>
          <a:lstStyle/>
          <a:p>
            <a:r>
              <a:rPr lang="en-US" sz="2400" dirty="0"/>
              <a:t>On Christmas Day 2009, A Passenger attempted to detonate an explosive device hidden in his underwear aboard Northwest Airlines Flight 253.</a:t>
            </a:r>
          </a:p>
          <a:p>
            <a:r>
              <a:rPr lang="en-US" sz="2400" dirty="0"/>
              <a:t>The incident highlighted the limitations of existing screening methods. </a:t>
            </a:r>
          </a:p>
          <a:p>
            <a:r>
              <a:rPr lang="en-US" sz="2400" dirty="0"/>
              <a:t>Rapid deployment of full-body scanners at airports worldwide. </a:t>
            </a:r>
          </a:p>
          <a:p>
            <a:r>
              <a:rPr lang="en-US" sz="2400" dirty="0"/>
              <a:t>Enhanced intelligence-sharing and watchlist management. </a:t>
            </a:r>
          </a:p>
          <a:p>
            <a:r>
              <a:rPr lang="en-US" sz="2400" dirty="0"/>
              <a:t> Introduction of behavioral analysis techniques to identify potential threats.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22232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7D77E-532E-E6D7-28C7-EBA7B766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124D9B-755C-149A-B2B9-FCD9EAF3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D63B0C0-F31A-DDB4-8D5E-CB09AA77F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D1024-8C10-7463-F7BD-B484994E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19" y="401221"/>
            <a:ext cx="10643681" cy="1348065"/>
          </a:xfrm>
        </p:spPr>
        <p:txBody>
          <a:bodyPr>
            <a:normAutofit/>
          </a:bodyPr>
          <a:lstStyle/>
          <a:p>
            <a:r>
              <a:rPr lang="en-US" sz="3600" b="1" dirty="0"/>
              <a:t>The Rise of Cybersecurity Threats (2010s-Present)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6E5A0-09D3-A153-708D-1B0357882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8"/>
            <a:ext cx="10515600" cy="4271212"/>
          </a:xfrm>
        </p:spPr>
        <p:txBody>
          <a:bodyPr>
            <a:normAutofit/>
          </a:bodyPr>
          <a:lstStyle/>
          <a:p>
            <a:r>
              <a:rPr lang="en-US" sz="2400" dirty="0"/>
              <a:t>As aviation systems become increasingly digitized, the industry faces a new frontier of threats: cyberattacks. </a:t>
            </a:r>
          </a:p>
          <a:p>
            <a:r>
              <a:rPr lang="en-US" sz="2400" dirty="0"/>
              <a:t>Incidents like the 2015 hacking of LOT Polish Airlines’ ground systems have highlighted the vulnerabilities of critical aviation infrastructure</a:t>
            </a:r>
          </a:p>
          <a:p>
            <a:r>
              <a:rPr lang="en-US" sz="2400" dirty="0"/>
              <a:t> Implementation of cybersecurity frameworks to protect aircraft systems and airport operations. </a:t>
            </a:r>
          </a:p>
          <a:p>
            <a:r>
              <a:rPr lang="en-US" sz="2400" dirty="0"/>
              <a:t> Increased investment in cyber resilience training for aviation professionals. </a:t>
            </a:r>
          </a:p>
          <a:p>
            <a:r>
              <a:rPr lang="en-US" sz="2400" dirty="0"/>
              <a:t>Collaboration between governments, airlines, and tech companies to safeguard digital assets.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37132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3EA40-994C-DCB3-7C97-8C232EFC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70FF15-A89F-44EC-BB6D-DB0B0D5D8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B7776B-53DE-9757-13F7-62C8FF2C8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FB611-F683-FE55-EFF8-53A69448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Improvement in </a:t>
            </a:r>
            <a:r>
              <a:rPr lang="en-US" sz="5400" b="1" dirty="0" err="1"/>
              <a:t>Avn</a:t>
            </a:r>
            <a:r>
              <a:rPr lang="en-US" sz="5400" b="1" dirty="0"/>
              <a:t>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16B18-AE46-40D0-E7E8-5502F244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n-US" sz="2400" dirty="0"/>
              <a:t>There has few cases of hijacking and Suspected  sabotage (mostly failed attempts) of commercial aircraft within the last 20 years (2006–2026).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Such events have become rare due to tightened security, and strict implementation of </a:t>
            </a:r>
            <a:r>
              <a:rPr lang="en-US" sz="2400" dirty="0" err="1"/>
              <a:t>Avn</a:t>
            </a:r>
            <a:r>
              <a:rPr lang="en-US" sz="2400" dirty="0"/>
              <a:t> Security procedures particularly after September 11, 2001 </a:t>
            </a:r>
          </a:p>
        </p:txBody>
      </p:sp>
    </p:spTree>
    <p:extLst>
      <p:ext uri="{BB962C8B-B14F-4D97-AF65-F5344CB8AC3E}">
        <p14:creationId xmlns:p14="http://schemas.microsoft.com/office/powerpoint/2010/main" val="1720426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AD3BE-69C4-4569-53D8-0DD3D453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00438C-4AB5-144B-6053-791C14D28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ED5D2C6-6341-11C2-E6D2-50EEFDE41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4F986-494B-9551-A497-1758D3B7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US" sz="54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6B031-8BC4-4007-DFF7-CEE8A26ED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Aviation security is a shared responsibility </a:t>
            </a:r>
          </a:p>
          <a:p>
            <a:pPr lvl="0"/>
            <a:r>
              <a:rPr lang="en-US" sz="2400" dirty="0"/>
              <a:t>ICAO &amp; IATA provide global framework </a:t>
            </a:r>
          </a:p>
          <a:p>
            <a:pPr lvl="0"/>
            <a:r>
              <a:rPr lang="en-US" sz="2400" dirty="0"/>
              <a:t>PCAA &amp; ASF enforce nationally </a:t>
            </a:r>
          </a:p>
          <a:p>
            <a:pPr lvl="0"/>
            <a:r>
              <a:rPr lang="en-US" sz="2400" dirty="0"/>
              <a:t>Stakeholders (Airlines and GHAs) ensure daily operations</a:t>
            </a:r>
          </a:p>
          <a:p>
            <a:pPr lvl="0"/>
            <a:r>
              <a:rPr lang="en-US" sz="2400" dirty="0"/>
              <a:t>Integrated System Approach </a:t>
            </a:r>
          </a:p>
          <a:p>
            <a:r>
              <a:rPr lang="en-US" sz="2400" dirty="0"/>
              <a:t>Continuous enhancement and evolution of </a:t>
            </a:r>
            <a:r>
              <a:rPr lang="en-US" sz="2400" dirty="0" err="1"/>
              <a:t>Avn</a:t>
            </a:r>
            <a:r>
              <a:rPr lang="en-US" sz="2400" dirty="0"/>
              <a:t> Security’s methodologies and procedures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7690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4A403A"/>
      </a:dk1>
      <a:lt1>
        <a:sysClr val="window" lastClr="FFFFFF"/>
      </a:lt1>
      <a:dk2>
        <a:srgbClr val="4A403A"/>
      </a:dk2>
      <a:lt2>
        <a:srgbClr val="D4B896"/>
      </a:lt2>
      <a:accent1>
        <a:srgbClr val="F4A900"/>
      </a:accent1>
      <a:accent2>
        <a:srgbClr val="C1666B"/>
      </a:accent2>
      <a:accent3>
        <a:srgbClr val="4A403A"/>
      </a:accent3>
      <a:accent4>
        <a:srgbClr val="D4B896"/>
      </a:accent4>
      <a:accent5>
        <a:srgbClr val="B37D00"/>
      </a:accent5>
      <a:accent6>
        <a:srgbClr val="8B4A4E"/>
      </a:accent6>
      <a:hlink>
        <a:srgbClr val="C1666B"/>
      </a:hlink>
      <a:folHlink>
        <a:srgbClr val="4A403A"/>
      </a:folHlink>
    </a:clrScheme>
    <a:fontScheme name="Office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4A403A"/>
      </a:dk1>
      <a:lt1>
        <a:sysClr val="window" lastClr="FFFFFF"/>
      </a:lt1>
      <a:dk2>
        <a:srgbClr val="4A403A"/>
      </a:dk2>
      <a:lt2>
        <a:srgbClr val="D4B896"/>
      </a:lt2>
      <a:accent1>
        <a:srgbClr val="F4A900"/>
      </a:accent1>
      <a:accent2>
        <a:srgbClr val="C1666B"/>
      </a:accent2>
      <a:accent3>
        <a:srgbClr val="4A403A"/>
      </a:accent3>
      <a:accent4>
        <a:srgbClr val="D4B896"/>
      </a:accent4>
      <a:accent5>
        <a:srgbClr val="B37D00"/>
      </a:accent5>
      <a:accent6>
        <a:srgbClr val="8B4A4E"/>
      </a:accent6>
      <a:hlink>
        <a:srgbClr val="C1666B"/>
      </a:hlink>
      <a:folHlink>
        <a:srgbClr val="4A403A"/>
      </a:folHlink>
    </a:clrScheme>
    <a:fontScheme name="Office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1242</Words>
  <Application>Microsoft Office PowerPoint</Application>
  <PresentationFormat>Widescreen</PresentationFormat>
  <Paragraphs>185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Symbol</vt:lpstr>
      <vt:lpstr>Office Theme</vt:lpstr>
      <vt:lpstr>Aviation Security Awareness </vt:lpstr>
      <vt:lpstr>Introduction</vt:lpstr>
      <vt:lpstr>Sequence of Topics</vt:lpstr>
      <vt:lpstr>Importance of Aviation Security</vt:lpstr>
      <vt:lpstr>Consequences of Security Failure</vt:lpstr>
      <vt:lpstr>Difference between Safety &amp; Security</vt:lpstr>
      <vt:lpstr>Key Organization : ICAO</vt:lpstr>
      <vt:lpstr>Key Organization : IATA</vt:lpstr>
      <vt:lpstr>Role of Pakistan Civil Aviation Authority</vt:lpstr>
      <vt:lpstr>Airport Security Force</vt:lpstr>
      <vt:lpstr>Airline Responsibilities</vt:lpstr>
      <vt:lpstr>Airline Local Security Department</vt:lpstr>
      <vt:lpstr>Traffic Staff Responsibilities</vt:lpstr>
      <vt:lpstr>Ground Handling Agents (GHAs)</vt:lpstr>
      <vt:lpstr>Cargo Department Responsibilities</vt:lpstr>
      <vt:lpstr>Catering Department Responsibies</vt:lpstr>
      <vt:lpstr>The Hijacking Era (1960s-1970s)</vt:lpstr>
      <vt:lpstr>The Lockerbie Bombing (1988)</vt:lpstr>
      <vt:lpstr>The 9/11 Attacks (2001)</vt:lpstr>
      <vt:lpstr>The Shoe Bomber Incident (2001)</vt:lpstr>
      <vt:lpstr>The Underwear Bomber (2009)</vt:lpstr>
      <vt:lpstr>The Rise of Cybersecurity Threats (2010s-Present)</vt:lpstr>
      <vt:lpstr>Improvement in Avn Security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Masroor Karim</dc:creator>
  <cp:lastModifiedBy>Masroor Karim</cp:lastModifiedBy>
  <cp:revision>8</cp:revision>
  <dcterms:created xsi:type="dcterms:W3CDTF">2026-04-14T09:07:00Z</dcterms:created>
  <dcterms:modified xsi:type="dcterms:W3CDTF">2026-07-07T07:52:57Z</dcterms:modified>
</cp:coreProperties>
</file>